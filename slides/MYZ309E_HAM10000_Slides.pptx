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4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365760" cy="21945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Diagnosis on HAM10000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loss functions and sampling on imbalanced skin-cancer classification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</a:t>
            </a:r>
            <a:r>
              <a:rPr lang="tr-TR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090240741   ·   kahyaoglu20@itu.edu.tr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B47"/>
          </a:solidFill>
          <a:ln w="12700">
            <a:solidFill>
              <a:srgbClr val="0F1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Artificial Intelligence in Mathematical Engineering   ·   CRN 23577   ·   Lecturer: Prof. Muhammed Kurulay, PhD   ·   Istanbul Technical University   ·  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67% of your data is one class?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HAM10000: 10,015 dermoscopic images, 7 diagnostic classes</a:t>
            </a:r>
            <a:endParaRPr lang="en-US" sz="1300" dirty="0"/>
          </a:p>
        </p:txBody>
      </p:sp>
      <p:pic>
        <p:nvPicPr>
          <p:cNvPr id="8" name="Image 0" descr="/sessions/loving-nice-maxwell/mnt/outputs/figure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1234440"/>
            <a:ext cx="960120" cy="960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234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20840" y="1234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(melanocytic nevi)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2286000"/>
            <a:ext cx="960120" cy="9601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20840" y="2286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(dermatofibroma)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333756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3337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58x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720840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(majority : minority)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pipeline look like?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download -&gt; stratified 70/15/15 split -&gt; CNN -&gt; imbalance-aware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5910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(10,015)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56816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75688" y="1188720"/>
            <a:ext cx="15910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1887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64x64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+ Norm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21024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39896" y="1188720"/>
            <a:ext cx="1591056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1887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Conv-BN-ReLU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4 blocks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85232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04104" y="1188720"/>
            <a:ext cx="15910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1887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Dropout/FC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68312" y="1188720"/>
            <a:ext cx="15910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1887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331720"/>
            <a:ext cx="8321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(106,391 trainable parameters)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278892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3-&gt;16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BN + ReLU + MaxPool 2   (16 x 32 x 32)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16-&gt;32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BN + ReLU + MaxPool 2   (32 x 16 x 16)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32-&gt;64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BN + ReLU + MaxPool 2   (64 x 8 x 8)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64-&gt;128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BN + ReLU + MaxPool 2   (128 x 4 x 4)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GlobalAvgPool -&gt; Dropout(0.4) -&gt; FC 128-&gt;64 -&gt; ReLU -&gt; Dropout(0.4) -&gt; FC 64-&gt;7 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change the loss function or sampling?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configurations - same model, same optimiser, same seed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69087"/>
              </p:ext>
            </p:extLst>
          </p:nvPr>
        </p:nvGraphicFramePr>
        <p:xfrm>
          <a:off x="411480" y="1234440"/>
          <a:ext cx="3480753" cy="30175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Baseline; no rebalancing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Upweight rare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De-emphasise easy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Class-Balanced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number of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CE + Sampler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Sampling-side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plot the loss across epochs?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(left) and validation (right) loss for all five configurations</a:t>
            </a:r>
            <a:endParaRPr lang="en-US" sz="1300" dirty="0"/>
          </a:p>
        </p:txBody>
      </p:sp>
      <p:pic>
        <p:nvPicPr>
          <p:cNvPr id="8" name="Image 0" descr="/sessions/loving-nice-maxwell/mnt/outputs/figures/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91" y="1257300"/>
            <a:ext cx="7383529" cy="2971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143000"/>
            <a:ext cx="1371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Reading the curves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1508760"/>
            <a:ext cx="1188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CE: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train + val loss - by exploiting the 67% nv prior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Focal: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absolute scale because (1-p_t)^gamma collapses easy examples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Reweighted: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 val loss; class weights amplify minority gradient noise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look beyond accuracy?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CE: 73.6% accuracy AND 0% recall on the rarest class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'df'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(gamma=2)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Class-Balanced 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CE + Sampler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arithmetic mean of per-class F1 - equal weight to every class. Balanced Acc = mean of per-class recall.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visualise rare-class recall?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 never predicts df; only Focal and the Sampler meaningfully recover it</a:t>
            </a:r>
            <a:endParaRPr lang="en-US" sz="1300" dirty="0"/>
          </a:p>
        </p:txBody>
      </p:sp>
      <p:pic>
        <p:nvPicPr>
          <p:cNvPr id="8" name="Image 0" descr="/sessions/loving-nice-maxwell/mnt/outputs/figures/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16151"/>
            <a:ext cx="8321040" cy="3164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look at the confusion matrix?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test-set 'df' samples collapse onto 'nv' in the baseline</a:t>
            </a:r>
            <a:endParaRPr lang="en-US" sz="1300" dirty="0"/>
          </a:p>
        </p:txBody>
      </p:sp>
      <p:pic>
        <p:nvPicPr>
          <p:cNvPr id="8" name="Image 0" descr="/sessions/loving-nice-maxwell/mnt/outputs/figures/cm_stand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33" y="1188720"/>
            <a:ext cx="3642526" cy="3291840"/>
          </a:xfrm>
          <a:prstGeom prst="rect">
            <a:avLst/>
          </a:prstGeom>
        </p:spPr>
      </p:pic>
      <p:pic>
        <p:nvPicPr>
          <p:cNvPr id="9" name="Image 1" descr="/sessions/loving-nice-maxwell/mnt/outputs/figures/cm_b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188720"/>
            <a:ext cx="3804306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434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 - df column entirely empty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17720" y="4434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(best macro F1 = 0.443)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look at where the baseline fails?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most-confident WRONG predictions of Standard CE - all true 'bkl' lesions called 'nv' at 97-99.8% confidence</a:t>
            </a:r>
            <a:endParaRPr lang="en-US" sz="1300" dirty="0"/>
          </a:p>
        </p:txBody>
      </p:sp>
      <p:pic>
        <p:nvPicPr>
          <p:cNvPr id="8" name="Image 0" descr="/sessions/loving-nice-maxwell/mnt/outputs/figures/error_analysis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28" y="1183068"/>
            <a:ext cx="6139543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has effectively learnt: 'when in doubt, predict the majority class'. Loss reweighting and oversampling fix exactly this.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MYZ 309E - HAM10000 Imbalance Study   |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transferable to any imbalanced classification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18872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1887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 reaches 73.6% accuracy yet 0% recall on the rarest class df, 13.6% on vasc. Always report macro F1 + per-class recall on imbalanced data.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11887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2860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317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wins decisively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reaches macro F1 = 0.443 vs 0.381 for Standard CE; the only loss-side fix that recovers df recall (0% -&gt; 38.9%).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383280"/>
            <a:ext cx="1188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3832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vs sampling: not a tie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matches Focal on minority recall (38.9%) but at a much larger accuracy cost (46% vs 62%). Pure Weighted CE under-performs both within an 8-epoch budget.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B47"/>
          </a:solidFill>
          <a:ln w="12700">
            <a:solidFill>
              <a:srgbClr val="0F1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kept iterating?  Future work below.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Replace the from-scratch backbone with pretrained ResNet-50 / EfficientNet-B0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Add the Convolutional Autoencoder denoising stage (hairs, ruler markings, vignettes)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Calibrate predicted probabilities (temperature scaling) for clinically meaningful confidence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Test stronger sampling/augmentation: SMOTE-in-feature-space, MixUp, CutMix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Hierarchical decision: malignant-vs-benign first, subtype second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Kahyao</a:t>
            </a:r>
            <a:r>
              <a:rPr lang="tr-TR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0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kahyaoglu20@itu.edu.tr   ·   MYZ 309E -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897</Words>
  <Application>Microsoft Office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Istanbul Technical University - MYZ 309E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Diagnosis on HAM10000</dc:title>
  <dc:subject>PptxGenJS Presentation</dc:subject>
  <dc:creator>Omer Kahyaoglu</dc:creator>
  <cp:lastModifiedBy>Ömer Kahyaoğlu</cp:lastModifiedBy>
  <cp:revision>3</cp:revision>
  <dcterms:created xsi:type="dcterms:W3CDTF">2026-05-05T07:29:41Z</dcterms:created>
  <dcterms:modified xsi:type="dcterms:W3CDTF">2026-05-11T21:41:43Z</dcterms:modified>
</cp:coreProperties>
</file>